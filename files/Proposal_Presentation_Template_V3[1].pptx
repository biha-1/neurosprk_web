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7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7" r:id="rId6"/>
    <p:sldId id="258" r:id="rId7"/>
    <p:sldId id="259" r:id="rId8"/>
    <p:sldId id="262" r:id="rId9"/>
    <p:sldId id="260" r:id="rId10"/>
    <p:sldId id="261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76" autoAdjust="0"/>
    <p:restoredTop sz="94660"/>
  </p:normalViewPr>
  <p:slideViewPr>
    <p:cSldViewPr>
      <p:cViewPr varScale="1">
        <p:scale>
          <a:sx n="78" d="100"/>
          <a:sy n="78" d="100"/>
        </p:scale>
        <p:origin x="869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8/26/2025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1520825" algn="l"/>
              </a:tabLst>
            </a:pPr>
            <a:r>
              <a:rPr spc="-10" dirty="0"/>
              <a:t>ITXXXXXXXX</a:t>
            </a:r>
            <a:r>
              <a:rPr dirty="0"/>
              <a:t>	</a:t>
            </a:r>
            <a:r>
              <a:rPr b="0" spc="-50" dirty="0">
                <a:latin typeface="Cambria"/>
                <a:cs typeface="Cambria"/>
              </a:rPr>
              <a:t>|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8/26/2025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1520825" algn="l"/>
              </a:tabLst>
            </a:pPr>
            <a:r>
              <a:rPr spc="-10" dirty="0"/>
              <a:t>ITXXXXXXXX</a:t>
            </a:r>
            <a:r>
              <a:rPr dirty="0"/>
              <a:t>	</a:t>
            </a:r>
            <a:r>
              <a:rPr b="0" spc="-50" dirty="0">
                <a:latin typeface="Cambria"/>
                <a:cs typeface="Cambria"/>
              </a:rPr>
              <a:t>|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8/26/2025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1520825" algn="l"/>
              </a:tabLst>
            </a:pPr>
            <a:r>
              <a:rPr spc="-10" dirty="0"/>
              <a:t>ITXXXXXXXX</a:t>
            </a:r>
            <a:r>
              <a:rPr dirty="0"/>
              <a:t>	</a:t>
            </a:r>
            <a:r>
              <a:rPr b="0" spc="-50" dirty="0">
                <a:latin typeface="Cambria"/>
                <a:cs typeface="Cambria"/>
              </a:rPr>
              <a:t>|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8/26/2025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1520825" algn="l"/>
              </a:tabLst>
            </a:pPr>
            <a:r>
              <a:rPr spc="-10" dirty="0"/>
              <a:t>ITXXXXXXXX</a:t>
            </a:r>
            <a:r>
              <a:rPr dirty="0"/>
              <a:t>	</a:t>
            </a:r>
            <a:r>
              <a:rPr b="0" spc="-50" dirty="0">
                <a:latin typeface="Cambria"/>
                <a:cs typeface="Cambria"/>
              </a:rPr>
              <a:t>|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8/26/2025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1520825" algn="l"/>
              </a:tabLst>
            </a:pPr>
            <a:r>
              <a:rPr spc="-10" dirty="0"/>
              <a:t>ITXXXXXXXX</a:t>
            </a:r>
            <a:r>
              <a:rPr dirty="0"/>
              <a:t>	</a:t>
            </a:r>
            <a:r>
              <a:rPr b="0" spc="-50" dirty="0">
                <a:latin typeface="Cambria"/>
                <a:cs typeface="Cambria"/>
              </a:rPr>
              <a:t>|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373302"/>
            <a:ext cx="2514599" cy="48469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0739" y="1120647"/>
            <a:ext cx="10118521" cy="20220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2140" y="1168653"/>
            <a:ext cx="10688320" cy="4708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367009" y="6574303"/>
            <a:ext cx="810895" cy="204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8/26/2025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711576" y="6531783"/>
            <a:ext cx="1607185" cy="294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1520825" algn="l"/>
              </a:tabLst>
            </a:pPr>
            <a:r>
              <a:rPr spc="-10" dirty="0"/>
              <a:t>ITXXXXXXXX</a:t>
            </a:r>
            <a:r>
              <a:rPr dirty="0"/>
              <a:t>	</a:t>
            </a:r>
            <a:r>
              <a:rPr b="0" spc="-50" dirty="0">
                <a:latin typeface="Cambria"/>
                <a:cs typeface="Cambria"/>
              </a:rPr>
              <a:t>|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490070" y="6559759"/>
            <a:ext cx="194945" cy="234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15470" y="6550862"/>
            <a:ext cx="13144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latin typeface="Cambria"/>
                <a:cs typeface="Cambria"/>
              </a:rPr>
              <a:t>1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373302"/>
            <a:ext cx="2514599" cy="48469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367009" y="6566713"/>
            <a:ext cx="8108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mbria"/>
                <a:cs typeface="Cambria"/>
              </a:rPr>
              <a:t>8/26/2025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58900" y="353440"/>
            <a:ext cx="9987280" cy="6832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095"/>
              </a:lnSpc>
            </a:pPr>
            <a:r>
              <a:rPr sz="4400" b="0" dirty="0">
                <a:latin typeface="Calibri"/>
                <a:cs typeface="Calibri"/>
              </a:rPr>
              <a:t>Use</a:t>
            </a:r>
            <a:r>
              <a:rPr sz="4400" b="0" spc="-95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Slide</a:t>
            </a:r>
            <a:r>
              <a:rPr sz="4400" b="0" spc="-95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Layout</a:t>
            </a:r>
            <a:r>
              <a:rPr sz="4400" b="0" spc="-95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“Overall</a:t>
            </a:r>
            <a:r>
              <a:rPr sz="4400" b="0" spc="-110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Title</a:t>
            </a:r>
            <a:r>
              <a:rPr sz="4400" b="0" spc="-95" dirty="0">
                <a:latin typeface="Calibri"/>
                <a:cs typeface="Calibri"/>
              </a:rPr>
              <a:t> </a:t>
            </a:r>
            <a:r>
              <a:rPr sz="4400" b="0" dirty="0">
                <a:latin typeface="Calibri"/>
                <a:cs typeface="Calibri"/>
              </a:rPr>
              <a:t>and</a:t>
            </a:r>
            <a:r>
              <a:rPr sz="4400" b="0" spc="-95" dirty="0">
                <a:latin typeface="Calibri"/>
                <a:cs typeface="Calibri"/>
              </a:rPr>
              <a:t> </a:t>
            </a:r>
            <a:r>
              <a:rPr sz="4400" b="0" spc="-10" dirty="0">
                <a:latin typeface="Calibri"/>
                <a:cs typeface="Calibri"/>
              </a:rPr>
              <a:t>Content”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dirty="0"/>
              <a:t>Introduce</a:t>
            </a:r>
            <a:r>
              <a:rPr spc="-7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spc="-30" dirty="0"/>
              <a:t>real-</a:t>
            </a:r>
            <a:r>
              <a:rPr dirty="0"/>
              <a:t>world</a:t>
            </a:r>
            <a:r>
              <a:rPr spc="-50" dirty="0"/>
              <a:t> </a:t>
            </a:r>
            <a:r>
              <a:rPr dirty="0"/>
              <a:t>problem</a:t>
            </a:r>
            <a:r>
              <a:rPr spc="-45" dirty="0"/>
              <a:t> </a:t>
            </a:r>
            <a:r>
              <a:rPr dirty="0"/>
              <a:t>your</a:t>
            </a:r>
            <a:r>
              <a:rPr spc="-60" dirty="0"/>
              <a:t> </a:t>
            </a:r>
            <a:r>
              <a:rPr dirty="0"/>
              <a:t>team</a:t>
            </a:r>
            <a:r>
              <a:rPr spc="-60" dirty="0"/>
              <a:t> </a:t>
            </a:r>
            <a:r>
              <a:rPr dirty="0"/>
              <a:t>aims</a:t>
            </a:r>
            <a:r>
              <a:rPr spc="-55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spc="-10" dirty="0"/>
              <a:t>solve,</a:t>
            </a:r>
            <a:r>
              <a:rPr spc="-60" dirty="0"/>
              <a:t> </a:t>
            </a:r>
            <a:r>
              <a:rPr dirty="0"/>
              <a:t>highlighting</a:t>
            </a:r>
            <a:r>
              <a:rPr spc="-85" dirty="0"/>
              <a:t> </a:t>
            </a:r>
            <a:r>
              <a:rPr spc="-10" dirty="0"/>
              <a:t>affected </a:t>
            </a:r>
            <a:r>
              <a:rPr dirty="0"/>
              <a:t>parties</a:t>
            </a:r>
            <a:r>
              <a:rPr spc="-50" dirty="0"/>
              <a:t> </a:t>
            </a:r>
            <a:r>
              <a:rPr dirty="0"/>
              <a:t>due</a:t>
            </a:r>
            <a:r>
              <a:rPr spc="-4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this</a:t>
            </a:r>
            <a:r>
              <a:rPr spc="-35" dirty="0"/>
              <a:t> </a:t>
            </a:r>
            <a:r>
              <a:rPr spc="-10" dirty="0"/>
              <a:t>problem,</a:t>
            </a:r>
            <a:r>
              <a:rPr spc="-45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Importance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solving</a:t>
            </a:r>
            <a:r>
              <a:rPr spc="-50" dirty="0"/>
              <a:t> </a:t>
            </a:r>
            <a:r>
              <a:rPr dirty="0"/>
              <a:t>this</a:t>
            </a:r>
            <a:r>
              <a:rPr spc="-45" dirty="0"/>
              <a:t> </a:t>
            </a:r>
            <a:r>
              <a:rPr spc="-10" dirty="0"/>
              <a:t>problem.</a:t>
            </a:r>
          </a:p>
          <a:p>
            <a:pPr marL="355600" marR="210820" indent="-3429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</a:tabLst>
            </a:pPr>
            <a:r>
              <a:rPr dirty="0"/>
              <a:t>Utilize</a:t>
            </a:r>
            <a:r>
              <a:rPr spc="-80" dirty="0"/>
              <a:t> </a:t>
            </a:r>
            <a:r>
              <a:rPr dirty="0"/>
              <a:t>figures,</a:t>
            </a:r>
            <a:r>
              <a:rPr spc="-75" dirty="0"/>
              <a:t> </a:t>
            </a:r>
            <a:r>
              <a:rPr dirty="0"/>
              <a:t>descriptions,</a:t>
            </a:r>
            <a:r>
              <a:rPr spc="-60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dirty="0"/>
              <a:t>facts</a:t>
            </a:r>
            <a:r>
              <a:rPr spc="-50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dirty="0"/>
              <a:t>provide</a:t>
            </a:r>
            <a:r>
              <a:rPr spc="-55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spc="-20" dirty="0"/>
              <a:t>comprehensive</a:t>
            </a:r>
            <a:r>
              <a:rPr spc="-50" dirty="0"/>
              <a:t> </a:t>
            </a:r>
            <a:r>
              <a:rPr dirty="0"/>
              <a:t>overview</a:t>
            </a:r>
            <a:r>
              <a:rPr spc="-55" dirty="0"/>
              <a:t> </a:t>
            </a:r>
            <a:r>
              <a:rPr spc="-25" dirty="0"/>
              <a:t>of </a:t>
            </a:r>
            <a:r>
              <a:rPr dirty="0"/>
              <a:t>your</a:t>
            </a:r>
            <a:r>
              <a:rPr spc="-60" dirty="0"/>
              <a:t> </a:t>
            </a:r>
            <a:r>
              <a:rPr spc="-10" dirty="0"/>
              <a:t>problem.</a:t>
            </a: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</a:tabLst>
            </a:pPr>
            <a:r>
              <a:rPr spc="-10" dirty="0"/>
              <a:t>Prepare</a:t>
            </a:r>
            <a:r>
              <a:rPr spc="-50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dirty="0"/>
              <a:t>video</a:t>
            </a:r>
            <a:r>
              <a:rPr spc="-30" dirty="0"/>
              <a:t> </a:t>
            </a:r>
            <a:r>
              <a:rPr dirty="0"/>
              <a:t>that</a:t>
            </a:r>
            <a:r>
              <a:rPr spc="-35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no</a:t>
            </a:r>
            <a:r>
              <a:rPr spc="-30" dirty="0"/>
              <a:t> </a:t>
            </a:r>
            <a:r>
              <a:rPr dirty="0"/>
              <a:t>longer</a:t>
            </a:r>
            <a:r>
              <a:rPr spc="-45" dirty="0"/>
              <a:t> </a:t>
            </a:r>
            <a:r>
              <a:rPr dirty="0"/>
              <a:t>than</a:t>
            </a:r>
            <a:r>
              <a:rPr spc="-40" dirty="0"/>
              <a:t> </a:t>
            </a:r>
            <a:r>
              <a:rPr dirty="0"/>
              <a:t>2</a:t>
            </a:r>
            <a:r>
              <a:rPr spc="-40" dirty="0"/>
              <a:t> </a:t>
            </a:r>
            <a:r>
              <a:rPr dirty="0"/>
              <a:t>minutes</a:t>
            </a:r>
            <a:r>
              <a:rPr spc="-3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explain</a:t>
            </a:r>
            <a:r>
              <a:rPr spc="-45" dirty="0"/>
              <a:t> </a:t>
            </a:r>
            <a:r>
              <a:rPr dirty="0"/>
              <a:t>this</a:t>
            </a:r>
            <a:r>
              <a:rPr spc="-30" dirty="0"/>
              <a:t> </a:t>
            </a:r>
            <a:r>
              <a:rPr spc="-10" dirty="0"/>
              <a:t>information.</a:t>
            </a: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</a:tabLst>
            </a:pPr>
            <a:r>
              <a:rPr dirty="0">
                <a:solidFill>
                  <a:srgbClr val="FF0000"/>
                </a:solidFill>
              </a:rPr>
              <a:t>The</a:t>
            </a:r>
            <a:r>
              <a:rPr spc="-4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following</a:t>
            </a:r>
            <a:r>
              <a:rPr spc="-7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information</a:t>
            </a:r>
            <a:r>
              <a:rPr spc="-8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should</a:t>
            </a:r>
            <a:r>
              <a:rPr spc="-2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be</a:t>
            </a:r>
            <a:r>
              <a:rPr spc="-4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covered</a:t>
            </a:r>
            <a:r>
              <a:rPr spc="-3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in</a:t>
            </a:r>
            <a:r>
              <a:rPr spc="-5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this</a:t>
            </a:r>
            <a:r>
              <a:rPr spc="-4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section</a:t>
            </a: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Font typeface="Wingdings"/>
              <a:buChar char=""/>
              <a:tabLst>
                <a:tab pos="756285" algn="l"/>
              </a:tabLst>
            </a:pP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Introduction</a:t>
            </a:r>
            <a:r>
              <a:rPr sz="2000" spc="-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2000"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2000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mbria"/>
                <a:cs typeface="Cambria"/>
              </a:rPr>
              <a:t>problem</a:t>
            </a:r>
            <a:endParaRPr sz="2000" dirty="0">
              <a:latin typeface="Cambria"/>
              <a:cs typeface="Cambria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756285" algn="l"/>
              </a:tabLst>
            </a:pP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Social</a:t>
            </a:r>
            <a:r>
              <a:rPr sz="2000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or</a:t>
            </a:r>
            <a:r>
              <a:rPr sz="2000" spc="-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research</a:t>
            </a:r>
            <a:r>
              <a:rPr sz="2000"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impact</a:t>
            </a:r>
            <a:r>
              <a:rPr sz="2000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2000" spc="-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2000" spc="-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mbria"/>
                <a:cs typeface="Cambria"/>
              </a:rPr>
              <a:t>solution</a:t>
            </a:r>
            <a:endParaRPr sz="2000" dirty="0">
              <a:latin typeface="Cambria"/>
              <a:cs typeface="Cambria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756285" algn="l"/>
              </a:tabLst>
            </a:pP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Previous</a:t>
            </a:r>
            <a:r>
              <a:rPr sz="2000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research</a:t>
            </a:r>
            <a:r>
              <a:rPr sz="2000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2000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its</a:t>
            </a:r>
            <a:r>
              <a:rPr sz="2000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mbria"/>
                <a:cs typeface="Cambria"/>
              </a:rPr>
              <a:t>shortcomings,</a:t>
            </a:r>
            <a:r>
              <a:rPr sz="2000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your</a:t>
            </a:r>
            <a:r>
              <a:rPr sz="2000" spc="-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approach</a:t>
            </a:r>
            <a:r>
              <a:rPr sz="2000" spc="-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2000" spc="-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address</a:t>
            </a:r>
            <a:r>
              <a:rPr sz="2000" spc="-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Cambria"/>
                <a:cs typeface="Cambria"/>
              </a:rPr>
              <a:t>them</a:t>
            </a:r>
            <a:endParaRPr sz="2000" dirty="0">
              <a:latin typeface="Cambria"/>
              <a:cs typeface="Cambria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756285" algn="l"/>
              </a:tabLst>
            </a:pPr>
            <a:r>
              <a:rPr sz="2000" spc="-10" dirty="0">
                <a:solidFill>
                  <a:srgbClr val="FF0000"/>
                </a:solidFill>
                <a:latin typeface="Cambria"/>
                <a:cs typeface="Cambria"/>
              </a:rPr>
              <a:t>Constraints</a:t>
            </a:r>
            <a:r>
              <a:rPr sz="2000" spc="-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2000" spc="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mbria"/>
                <a:cs typeface="Cambria"/>
              </a:rPr>
              <a:t>Limitations</a:t>
            </a:r>
            <a:endParaRPr sz="2000" dirty="0">
              <a:latin typeface="Cambria"/>
              <a:cs typeface="Cambria"/>
            </a:endParaRPr>
          </a:p>
          <a:p>
            <a:pPr marL="755650" lvl="1" indent="-285750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755650" algn="l"/>
              </a:tabLst>
            </a:pPr>
            <a:r>
              <a:rPr sz="2000" spc="-10" dirty="0">
                <a:solidFill>
                  <a:srgbClr val="FF0000"/>
                </a:solidFill>
                <a:latin typeface="Cambria"/>
                <a:cs typeface="Cambria"/>
              </a:rPr>
              <a:t>Overall</a:t>
            </a:r>
            <a:r>
              <a:rPr sz="2000" spc="-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mbria"/>
                <a:cs typeface="Cambria"/>
              </a:rPr>
              <a:t>System</a:t>
            </a:r>
            <a:r>
              <a:rPr sz="2000" spc="-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mbria"/>
                <a:cs typeface="Cambria"/>
              </a:rPr>
              <a:t>Diagram</a:t>
            </a:r>
            <a:endParaRPr sz="20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</a:tabLst>
            </a:pPr>
            <a:r>
              <a:rPr dirty="0"/>
              <a:t>Then</a:t>
            </a:r>
            <a:r>
              <a:rPr spc="-65" dirty="0"/>
              <a:t> </a:t>
            </a:r>
            <a:r>
              <a:rPr dirty="0"/>
              <a:t>you</a:t>
            </a:r>
            <a:r>
              <a:rPr spc="-60" dirty="0"/>
              <a:t> </a:t>
            </a:r>
            <a:r>
              <a:rPr dirty="0"/>
              <a:t>can</a:t>
            </a:r>
            <a:r>
              <a:rPr spc="-60" dirty="0"/>
              <a:t> </a:t>
            </a:r>
            <a:r>
              <a:rPr dirty="0"/>
              <a:t>proceed</a:t>
            </a:r>
            <a:r>
              <a:rPr spc="-60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individual</a:t>
            </a:r>
            <a:r>
              <a:rPr spc="-90" dirty="0"/>
              <a:t> </a:t>
            </a:r>
            <a:r>
              <a:rPr dirty="0"/>
              <a:t>student</a:t>
            </a:r>
            <a:r>
              <a:rPr spc="-60" dirty="0"/>
              <a:t> </a:t>
            </a:r>
            <a:r>
              <a:rPr spc="-10" dirty="0"/>
              <a:t>explanation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676910"/>
            <a:ext cx="12192000" cy="181610"/>
          </a:xfrm>
          <a:custGeom>
            <a:avLst/>
            <a:gdLst/>
            <a:ahLst/>
            <a:cxnLst/>
            <a:rect l="l" t="t" r="r" b="b"/>
            <a:pathLst>
              <a:path w="12192000" h="181609">
                <a:moveTo>
                  <a:pt x="4803267" y="0"/>
                </a:moveTo>
                <a:lnTo>
                  <a:pt x="0" y="181090"/>
                </a:lnTo>
                <a:lnTo>
                  <a:pt x="12192000" y="181090"/>
                </a:lnTo>
                <a:lnTo>
                  <a:pt x="4803267" y="0"/>
                </a:lnTo>
                <a:close/>
              </a:path>
            </a:pathLst>
          </a:custGeom>
          <a:solidFill>
            <a:srgbClr val="FFFFFF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rgbClr val="000000"/>
          </a:solidFill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70"/>
              </a:spcBef>
            </a:pPr>
            <a:endParaRPr lang="en-US" sz="1800" dirty="0">
              <a:latin typeface="Times New Roman"/>
              <a:cs typeface="Times New Roman"/>
            </a:endParaRPr>
          </a:p>
          <a:p>
            <a:pPr marL="131445" marR="122555" indent="1270" algn="ctr">
              <a:lnSpc>
                <a:spcPct val="100000"/>
              </a:lnSpc>
              <a:spcBef>
                <a:spcPts val="5"/>
              </a:spcBef>
            </a:pPr>
            <a:r>
              <a:rPr lang="en-US" sz="1800" dirty="0">
                <a:solidFill>
                  <a:srgbClr val="FFFFFF"/>
                </a:solidFill>
                <a:latin typeface="Cambria"/>
                <a:cs typeface="Cambria"/>
              </a:rPr>
              <a:t>Student</a:t>
            </a:r>
            <a:r>
              <a:rPr lang="en-US" sz="1800" spc="-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n-US" sz="1800" dirty="0">
                <a:solidFill>
                  <a:srgbClr val="FFFFFF"/>
                </a:solidFill>
                <a:latin typeface="Cambria"/>
                <a:cs typeface="Cambria"/>
              </a:rPr>
              <a:t>Must</a:t>
            </a:r>
            <a:r>
              <a:rPr lang="en-US" sz="1800" spc="-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n-US" sz="1800" spc="-25" dirty="0">
                <a:solidFill>
                  <a:srgbClr val="FFFFFF"/>
                </a:solidFill>
                <a:latin typeface="Cambria"/>
                <a:cs typeface="Cambria"/>
              </a:rPr>
              <a:t>add </a:t>
            </a:r>
            <a:r>
              <a:rPr lang="en-US" sz="1800" dirty="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lang="en-US" sz="1800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n-US" sz="1800" spc="-10" dirty="0">
                <a:solidFill>
                  <a:srgbClr val="FFFFFF"/>
                </a:solidFill>
                <a:latin typeface="Cambria"/>
                <a:cs typeface="Cambria"/>
              </a:rPr>
              <a:t>professional </a:t>
            </a:r>
            <a:r>
              <a:rPr lang="en-US" sz="1800" dirty="0">
                <a:solidFill>
                  <a:srgbClr val="FFFFFF"/>
                </a:solidFill>
                <a:latin typeface="Cambria"/>
                <a:cs typeface="Cambria"/>
              </a:rPr>
              <a:t>photo</a:t>
            </a:r>
            <a:r>
              <a:rPr lang="en-US" sz="1800" spc="-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n-US" sz="1800" dirty="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lang="en-US" sz="1800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n-US" sz="1800" dirty="0">
                <a:solidFill>
                  <a:srgbClr val="FFFFFF"/>
                </a:solidFill>
                <a:latin typeface="Cambria"/>
                <a:cs typeface="Cambria"/>
              </a:rPr>
              <a:t>this</a:t>
            </a:r>
            <a:r>
              <a:rPr lang="en-US" sz="1800" spc="-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n-US" sz="1800" spc="-20" dirty="0">
                <a:solidFill>
                  <a:srgbClr val="FFFFFF"/>
                </a:solidFill>
                <a:latin typeface="Cambria"/>
                <a:cs typeface="Cambria"/>
              </a:rPr>
              <a:t>cage</a:t>
            </a:r>
            <a:endParaRPr lang="en-US" sz="1800" dirty="0">
              <a:latin typeface="Cambria"/>
              <a:cs typeface="Cambr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2711576" y="6531783"/>
            <a:ext cx="1607185" cy="278281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1520825" algn="l"/>
              </a:tabLst>
            </a:pPr>
            <a:r>
              <a:rPr spc="-10" dirty="0"/>
              <a:t>IT</a:t>
            </a:r>
            <a:r>
              <a:rPr lang="en-US" spc="-10" dirty="0"/>
              <a:t>22212436</a:t>
            </a:r>
            <a:r>
              <a:rPr dirty="0"/>
              <a:t>	</a:t>
            </a:r>
            <a:r>
              <a:rPr b="0" spc="-50" dirty="0">
                <a:latin typeface="Cambria"/>
                <a:cs typeface="Cambria"/>
              </a:rPr>
              <a:t>|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445350" y="6531783"/>
            <a:ext cx="2252345" cy="278281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2166620" algn="l"/>
              </a:tabLst>
            </a:pPr>
            <a:r>
              <a:rPr lang="en-US" b="1" dirty="0">
                <a:latin typeface="Cambria"/>
                <a:cs typeface="Cambria"/>
              </a:rPr>
              <a:t>Vithanage B H</a:t>
            </a:r>
            <a:r>
              <a:rPr sz="1800" b="1" dirty="0">
                <a:latin typeface="Cambria"/>
                <a:cs typeface="Cambria"/>
              </a:rPr>
              <a:t>	</a:t>
            </a:r>
            <a:r>
              <a:rPr sz="1800" spc="-50" dirty="0">
                <a:latin typeface="Cambria"/>
                <a:cs typeface="Cambria"/>
              </a:rPr>
              <a:t>|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25488" y="6531783"/>
            <a:ext cx="1501140" cy="278281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spc="-10" dirty="0">
                <a:latin typeface="Cambria"/>
                <a:cs typeface="Cambria"/>
              </a:rPr>
              <a:t>25-26J-296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515470" y="6559759"/>
            <a:ext cx="131445" cy="23495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400" b="1" spc="-50" dirty="0">
                <a:latin typeface="Cambria"/>
                <a:cs typeface="Cambria"/>
              </a:rPr>
              <a:t>2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8/26/2025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160204" y="4876800"/>
            <a:ext cx="5511292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mbria"/>
                <a:cs typeface="Cambria"/>
              </a:rPr>
              <a:t>Specialization:</a:t>
            </a:r>
            <a:r>
              <a:rPr lang="en-US" sz="2000" spc="-10" dirty="0">
                <a:latin typeface="Cambria"/>
                <a:cs typeface="Cambria"/>
              </a:rPr>
              <a:t> Specialized in IT</a:t>
            </a:r>
            <a:endParaRPr sz="2000" dirty="0">
              <a:latin typeface="Cambria"/>
              <a:cs typeface="Cambria"/>
            </a:endParaRPr>
          </a:p>
        </p:txBody>
      </p:sp>
      <p:pic>
        <p:nvPicPr>
          <p:cNvPr id="13" name="Picture 12" descr="A person in a suit&#10;&#10;AI-generated content may be incorrect.">
            <a:extLst>
              <a:ext uri="{FF2B5EF4-FFF2-40B4-BE49-F238E27FC236}">
                <a16:creationId xmlns:a16="http://schemas.microsoft.com/office/drawing/2014/main" id="{BEB7EC31-BC1B-E87B-8B4A-93378AD10D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14" t="20871" r="26344" b="21796"/>
          <a:stretch>
            <a:fillRect/>
          </a:stretch>
        </p:blipFill>
        <p:spPr>
          <a:xfrm>
            <a:off x="10110019" y="111182"/>
            <a:ext cx="2057400" cy="2359173"/>
          </a:xfrm>
          <a:prstGeom prst="rect">
            <a:avLst/>
          </a:prstGeo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888F1A15-CB7E-D94E-F494-727935FF5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39" y="1159536"/>
            <a:ext cx="8836661" cy="1477328"/>
          </a:xfrm>
        </p:spPr>
        <p:txBody>
          <a:bodyPr/>
          <a:lstStyle/>
          <a:p>
            <a:pPr algn="ctr"/>
            <a:r>
              <a:rPr lang="en-US" dirty="0">
                <a:latin typeface="Cambria"/>
                <a:cs typeface="Cambria"/>
              </a:rPr>
              <a:t>Enhance Color Coordination in Dyslexic Learners</a:t>
            </a:r>
            <a:br>
              <a:rPr lang="en-US" dirty="0">
                <a:latin typeface="Cambria"/>
                <a:cs typeface="Cambria"/>
              </a:rPr>
            </a:b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2819400" y="149498"/>
            <a:ext cx="8358504" cy="862416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Enhance </a:t>
            </a:r>
            <a:r>
              <a:rPr lang="en-US" sz="2800" b="1" u="sng" dirty="0" err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Colour</a:t>
            </a: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Coordination in Dyslexic </a:t>
            </a:r>
          </a:p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Learners</a:t>
            </a:r>
            <a:endParaRPr sz="2800" b="1" dirty="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2711576" y="6531783"/>
            <a:ext cx="1607185" cy="278281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1520825" algn="l"/>
              </a:tabLst>
            </a:pPr>
            <a:r>
              <a:rPr spc="-10" dirty="0"/>
              <a:t>IT</a:t>
            </a:r>
            <a:r>
              <a:rPr lang="en-US" spc="-10" dirty="0"/>
              <a:t>22212436</a:t>
            </a:r>
            <a:r>
              <a:rPr dirty="0"/>
              <a:t>	</a:t>
            </a:r>
            <a:r>
              <a:rPr b="0" spc="-50" dirty="0">
                <a:latin typeface="Cambria"/>
                <a:cs typeface="Cambria"/>
              </a:rPr>
              <a:t>|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445350" y="6531783"/>
            <a:ext cx="2252345" cy="278281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2166620" algn="l"/>
              </a:tabLst>
            </a:pPr>
            <a:r>
              <a:rPr lang="en-US" b="1" dirty="0">
                <a:latin typeface="Cambria"/>
                <a:cs typeface="Cambria"/>
              </a:rPr>
              <a:t>Vithanage B H</a:t>
            </a:r>
            <a:r>
              <a:rPr sz="1800" b="1" dirty="0">
                <a:latin typeface="Cambria"/>
                <a:cs typeface="Cambria"/>
              </a:rPr>
              <a:t>	</a:t>
            </a:r>
            <a:r>
              <a:rPr sz="1800" spc="-50" dirty="0">
                <a:latin typeface="Cambria"/>
                <a:cs typeface="Cambria"/>
              </a:rPr>
              <a:t>|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24695" y="6531783"/>
            <a:ext cx="1501140" cy="278281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dirty="0">
                <a:latin typeface="Cambria"/>
                <a:cs typeface="Cambria"/>
              </a:rPr>
              <a:t>25-26J-296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8/26/2025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30460" y="3834313"/>
            <a:ext cx="9596755" cy="1274708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  <a:tabLst>
                <a:tab pos="354965" algn="l"/>
              </a:tabLst>
            </a:pPr>
            <a:r>
              <a:rPr lang="en-US" sz="2800" b="1" dirty="0">
                <a:latin typeface="Cambria"/>
                <a:cs typeface="Cambria"/>
              </a:rPr>
              <a:t>Problem Statement</a:t>
            </a: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</a:tabLst>
            </a:pPr>
            <a:r>
              <a:rPr lang="en-US" sz="2000" dirty="0">
                <a:latin typeface="Cambria"/>
                <a:cs typeface="Cambria"/>
              </a:rPr>
              <a:t>Existing Tools</a:t>
            </a: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</a:tabLst>
            </a:pPr>
            <a:r>
              <a:rPr lang="en-US" sz="2000" dirty="0">
                <a:latin typeface="Cambria"/>
                <a:cs typeface="Cambria"/>
              </a:rPr>
              <a:t>Gap</a:t>
            </a:r>
          </a:p>
        </p:txBody>
      </p:sp>
      <p:pic>
        <p:nvPicPr>
          <p:cNvPr id="15" name="Picture 14" descr="A group of kids holding shapes&#10;&#10;AI-generated content may be incorrect.">
            <a:extLst>
              <a:ext uri="{FF2B5EF4-FFF2-40B4-BE49-F238E27FC236}">
                <a16:creationId xmlns:a16="http://schemas.microsoft.com/office/drawing/2014/main" id="{906C13BE-15D7-DE8D-4568-67558222349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66"/>
          <a:stretch>
            <a:fillRect/>
          </a:stretch>
        </p:blipFill>
        <p:spPr>
          <a:xfrm>
            <a:off x="7742959" y="562524"/>
            <a:ext cx="4247535" cy="6038547"/>
          </a:xfrm>
          <a:prstGeom prst="rect">
            <a:avLst/>
          </a:prstGeom>
        </p:spPr>
      </p:pic>
      <p:pic>
        <p:nvPicPr>
          <p:cNvPr id="17" name="Picture 16" descr="A colorful palette of colors&#10;&#10;AI-generated content may be incorrect.">
            <a:extLst>
              <a:ext uri="{FF2B5EF4-FFF2-40B4-BE49-F238E27FC236}">
                <a16:creationId xmlns:a16="http://schemas.microsoft.com/office/drawing/2014/main" id="{BFF4DA45-B14D-69E9-2A95-E39097C4E3B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0850" y="121550"/>
            <a:ext cx="3200003" cy="310930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8D8AAD1-C39A-9084-30CB-FA580F863539}"/>
              </a:ext>
            </a:extLst>
          </p:cNvPr>
          <p:cNvSpPr txBox="1"/>
          <p:nvPr/>
        </p:nvSpPr>
        <p:spPr>
          <a:xfrm>
            <a:off x="2830460" y="1620440"/>
            <a:ext cx="640080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Background</a:t>
            </a:r>
          </a:p>
          <a:p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Dyslexia affection on visual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Color differentiation and coordination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Indirectly boost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reading, memory, and confidence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25" name="Picture 24" descr="A colorful palette of colors&#10;&#10;AI-generated content may be incorrect.">
            <a:extLst>
              <a:ext uri="{FF2B5EF4-FFF2-40B4-BE49-F238E27FC236}">
                <a16:creationId xmlns:a16="http://schemas.microsoft.com/office/drawing/2014/main" id="{0BEA87A6-1753-8549-C275-17FD92F6388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54" y="3788331"/>
            <a:ext cx="3137317" cy="30483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2711576" y="6531783"/>
            <a:ext cx="1607185" cy="278281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1520825" algn="l"/>
              </a:tabLst>
            </a:pPr>
            <a:r>
              <a:rPr spc="-10" dirty="0"/>
              <a:t>IT</a:t>
            </a:r>
            <a:r>
              <a:rPr lang="en-US" spc="-10" dirty="0"/>
              <a:t>22212436</a:t>
            </a:r>
            <a:r>
              <a:rPr dirty="0"/>
              <a:t>	</a:t>
            </a:r>
            <a:r>
              <a:rPr b="0" spc="-50" dirty="0">
                <a:latin typeface="Cambria"/>
                <a:cs typeface="Cambria"/>
              </a:rPr>
              <a:t>|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445350" y="6531783"/>
            <a:ext cx="2252345" cy="278281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2166620" algn="l"/>
              </a:tabLst>
            </a:pPr>
            <a:r>
              <a:rPr lang="en-US" b="1" dirty="0">
                <a:latin typeface="Cambria"/>
                <a:cs typeface="Cambria"/>
              </a:rPr>
              <a:t>Vithanage B H</a:t>
            </a:r>
            <a:r>
              <a:rPr sz="1800" b="1" dirty="0">
                <a:latin typeface="Cambria"/>
                <a:cs typeface="Cambria"/>
              </a:rPr>
              <a:t>	</a:t>
            </a:r>
            <a:r>
              <a:rPr sz="1800" spc="-50" dirty="0">
                <a:latin typeface="Cambria"/>
                <a:cs typeface="Cambria"/>
              </a:rPr>
              <a:t>|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24695" y="6531783"/>
            <a:ext cx="1501140" cy="278281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dirty="0">
                <a:latin typeface="Cambria"/>
                <a:cs typeface="Cambria"/>
              </a:rPr>
              <a:t>25-26J-296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8/26/2025</a:t>
            </a:r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BCDB586A-127B-D67A-D3DB-BE75636A0610}"/>
              </a:ext>
            </a:extLst>
          </p:cNvPr>
          <p:cNvSpPr txBox="1"/>
          <p:nvPr/>
        </p:nvSpPr>
        <p:spPr>
          <a:xfrm>
            <a:off x="2819400" y="149498"/>
            <a:ext cx="8358504" cy="862416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Enhance </a:t>
            </a:r>
            <a:r>
              <a:rPr lang="en-US" sz="2800" b="1" u="sng" dirty="0" err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Colour</a:t>
            </a: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Coordination in Dyslexic </a:t>
            </a:r>
          </a:p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Learners</a:t>
            </a:r>
            <a:endParaRPr sz="2800" b="1" dirty="0">
              <a:latin typeface="Cambria"/>
              <a:cs typeface="Cambria"/>
            </a:endParaRP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D4E2AC73-78FA-F09A-B5A7-4EE8F2044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95" y="1854116"/>
            <a:ext cx="5257799" cy="3876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Key Domains of Specialization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Artificial Intelligence &amp; Machine Learning </a:t>
            </a:r>
            <a:endParaRPr lang="en-US" alt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Human-Computer Interaction (HCI) </a:t>
            </a:r>
          </a:p>
          <a:p>
            <a:pPr marL="285750" marR="0" lvl="0" indent="-28575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Cognitive &amp; Educational Psychology </a:t>
            </a:r>
          </a:p>
          <a:p>
            <a:pPr marL="285750" marR="0" lvl="0" indent="-28575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Educational Technology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B38168A-8E19-FE64-100C-23A3560FFB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6432737"/>
              </p:ext>
            </p:extLst>
          </p:nvPr>
        </p:nvGraphicFramePr>
        <p:xfrm>
          <a:off x="6051891" y="2362615"/>
          <a:ext cx="3825479" cy="36779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53436">
                  <a:extLst>
                    <a:ext uri="{9D8B030D-6E8A-4147-A177-3AD203B41FA5}">
                      <a16:colId xmlns:a16="http://schemas.microsoft.com/office/drawing/2014/main" val="1499396153"/>
                    </a:ext>
                  </a:extLst>
                </a:gridCol>
                <a:gridCol w="1872043">
                  <a:extLst>
                    <a:ext uri="{9D8B030D-6E8A-4147-A177-3AD203B41FA5}">
                      <a16:colId xmlns:a16="http://schemas.microsoft.com/office/drawing/2014/main" val="2673537147"/>
                    </a:ext>
                  </a:extLst>
                </a:gridCol>
              </a:tblGrid>
              <a:tr h="183151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7979481"/>
                  </a:ext>
                </a:extLst>
              </a:tr>
              <a:tr h="18464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5585797"/>
                  </a:ext>
                </a:extLst>
              </a:tr>
            </a:tbl>
          </a:graphicData>
        </a:graphic>
      </p:graphicFrame>
      <p:pic>
        <p:nvPicPr>
          <p:cNvPr id="23" name="Picture 22" descr="A blue and white logo&#10;&#10;AI-generated content may be incorrect.">
            <a:extLst>
              <a:ext uri="{FF2B5EF4-FFF2-40B4-BE49-F238E27FC236}">
                <a16:creationId xmlns:a16="http://schemas.microsoft.com/office/drawing/2014/main" id="{D2D9674D-0B61-B57D-956F-8BBC4F7880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4058" y="2598740"/>
            <a:ext cx="1410386" cy="141038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A7604AB-A6F6-650E-B320-897C5DC8AEB6}"/>
              </a:ext>
            </a:extLst>
          </p:cNvPr>
          <p:cNvSpPr txBox="1"/>
          <p:nvPr/>
        </p:nvSpPr>
        <p:spPr>
          <a:xfrm>
            <a:off x="6086304" y="3751810"/>
            <a:ext cx="1278021" cy="382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Flutter</a:t>
            </a:r>
          </a:p>
        </p:txBody>
      </p:sp>
      <p:pic>
        <p:nvPicPr>
          <p:cNvPr id="26" name="Picture 25" descr="A logo for a company&#10;&#10;AI-generated content may be incorrect.">
            <a:extLst>
              <a:ext uri="{FF2B5EF4-FFF2-40B4-BE49-F238E27FC236}">
                <a16:creationId xmlns:a16="http://schemas.microsoft.com/office/drawing/2014/main" id="{067196B5-3270-35A8-C391-346DD37DCB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85" t="6061" r="25757" b="7576"/>
          <a:stretch>
            <a:fillRect/>
          </a:stretch>
        </p:blipFill>
        <p:spPr>
          <a:xfrm>
            <a:off x="8056897" y="2510038"/>
            <a:ext cx="1725760" cy="1555145"/>
          </a:xfrm>
          <a:prstGeom prst="rect">
            <a:avLst/>
          </a:prstGeom>
        </p:spPr>
      </p:pic>
      <p:pic>
        <p:nvPicPr>
          <p:cNvPr id="28" name="Picture 27" descr="A person walking on a grid with icons and symbols&#10;&#10;AI-generated content may be incorrect.">
            <a:extLst>
              <a:ext uri="{FF2B5EF4-FFF2-40B4-BE49-F238E27FC236}">
                <a16:creationId xmlns:a16="http://schemas.microsoft.com/office/drawing/2014/main" id="{E634CDF6-CBE1-774F-AC00-A4901F2FB12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0500" y="4360953"/>
            <a:ext cx="1666747" cy="1452600"/>
          </a:xfrm>
          <a:prstGeom prst="rect">
            <a:avLst/>
          </a:prstGeom>
        </p:spPr>
      </p:pic>
      <p:pic>
        <p:nvPicPr>
          <p:cNvPr id="30" name="Picture 29" descr="A logo of a company&#10;&#10;AI-generated content may be incorrect.">
            <a:extLst>
              <a:ext uri="{FF2B5EF4-FFF2-40B4-BE49-F238E27FC236}">
                <a16:creationId xmlns:a16="http://schemas.microsoft.com/office/drawing/2014/main" id="{2B35BA01-54D7-27C7-A18D-4E75C07C23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86" r="24690"/>
          <a:stretch>
            <a:fillRect/>
          </a:stretch>
        </p:blipFill>
        <p:spPr>
          <a:xfrm>
            <a:off x="8205219" y="4360953"/>
            <a:ext cx="1429116" cy="152109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D7A518CF-8758-54E1-A126-1829063628B9}"/>
              </a:ext>
            </a:extLst>
          </p:cNvPr>
          <p:cNvSpPr txBox="1"/>
          <p:nvPr/>
        </p:nvSpPr>
        <p:spPr>
          <a:xfrm>
            <a:off x="6023421" y="1825502"/>
            <a:ext cx="3253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Technology Stack</a:t>
            </a:r>
          </a:p>
        </p:txBody>
      </p:sp>
      <p:pic>
        <p:nvPicPr>
          <p:cNvPr id="40" name="Picture 39" descr="A robot thinking with his hand on his chin&#10;&#10;AI-generated content may be incorrect.">
            <a:extLst>
              <a:ext uri="{FF2B5EF4-FFF2-40B4-BE49-F238E27FC236}">
                <a16:creationId xmlns:a16="http://schemas.microsoft.com/office/drawing/2014/main" id="{97833A58-6B79-7A4D-951A-56B9170BE07B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2816" y="4127346"/>
            <a:ext cx="2578347" cy="2730654"/>
          </a:xfrm>
          <a:prstGeom prst="rect">
            <a:avLst/>
          </a:prstGeom>
        </p:spPr>
      </p:pic>
      <p:pic>
        <p:nvPicPr>
          <p:cNvPr id="41" name="Picture 40" descr="A robot thinking with his hand on his chin&#10;&#10;AI-generated content may be incorrect.">
            <a:extLst>
              <a:ext uri="{FF2B5EF4-FFF2-40B4-BE49-F238E27FC236}">
                <a16:creationId xmlns:a16="http://schemas.microsoft.com/office/drawing/2014/main" id="{911F348E-BC98-8086-E523-888C38C4669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0278" y="0"/>
            <a:ext cx="2373000" cy="27306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5444F-BBC2-5EE5-FC8A-036AC063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80B0997A-6528-124E-1706-3051E8E73BDE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711576" y="6531783"/>
            <a:ext cx="1607185" cy="278281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1520825" algn="l"/>
              </a:tabLst>
            </a:pPr>
            <a:r>
              <a:rPr spc="-10" dirty="0"/>
              <a:t>IT</a:t>
            </a:r>
            <a:r>
              <a:rPr lang="en-US" spc="-10" dirty="0"/>
              <a:t>22212436</a:t>
            </a:r>
            <a:r>
              <a:rPr dirty="0"/>
              <a:t>	</a:t>
            </a:r>
            <a:r>
              <a:rPr b="0" spc="-50" dirty="0">
                <a:latin typeface="Cambria"/>
                <a:cs typeface="Cambria"/>
              </a:rPr>
              <a:t>|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92DE080-5B9A-7FB0-30EA-1927B57280D0}"/>
              </a:ext>
            </a:extLst>
          </p:cNvPr>
          <p:cNvSpPr txBox="1"/>
          <p:nvPr/>
        </p:nvSpPr>
        <p:spPr>
          <a:xfrm>
            <a:off x="4445350" y="6531783"/>
            <a:ext cx="2252345" cy="278281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2166620" algn="l"/>
              </a:tabLst>
            </a:pPr>
            <a:r>
              <a:rPr lang="en-US" b="1" dirty="0">
                <a:latin typeface="Cambria"/>
                <a:cs typeface="Cambria"/>
              </a:rPr>
              <a:t>Vithanage B H</a:t>
            </a:r>
            <a:r>
              <a:rPr sz="1800" b="1" dirty="0">
                <a:latin typeface="Cambria"/>
                <a:cs typeface="Cambria"/>
              </a:rPr>
              <a:t>	</a:t>
            </a:r>
            <a:r>
              <a:rPr sz="1800" spc="-50" dirty="0">
                <a:latin typeface="Cambria"/>
                <a:cs typeface="Cambria"/>
              </a:rPr>
              <a:t>|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3342888-234F-29FF-D770-342C78E7949E}"/>
              </a:ext>
            </a:extLst>
          </p:cNvPr>
          <p:cNvSpPr txBox="1"/>
          <p:nvPr/>
        </p:nvSpPr>
        <p:spPr>
          <a:xfrm>
            <a:off x="6824695" y="6531783"/>
            <a:ext cx="1501140" cy="278281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dirty="0">
                <a:latin typeface="Cambria"/>
                <a:cs typeface="Cambria"/>
              </a:rPr>
              <a:t>25-26J-296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8DDDAC6-EEA5-FFB1-6F44-406B5589CD0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C5700859-7723-C73B-2D15-30B13E45A35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8/26/2025</a:t>
            </a:r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6C1A9ECD-9E45-3A12-71B4-9BC1E9CD62F9}"/>
              </a:ext>
            </a:extLst>
          </p:cNvPr>
          <p:cNvSpPr txBox="1"/>
          <p:nvPr/>
        </p:nvSpPr>
        <p:spPr>
          <a:xfrm>
            <a:off x="2819400" y="149498"/>
            <a:ext cx="8358504" cy="862416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Enhance </a:t>
            </a:r>
            <a:r>
              <a:rPr lang="en-US" sz="2800" b="1" u="sng" dirty="0" err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Colour</a:t>
            </a: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Coordination in Dyslexic </a:t>
            </a:r>
          </a:p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lang="en-US" sz="28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Learners</a:t>
            </a:r>
            <a:endParaRPr sz="2800" b="1" dirty="0">
              <a:latin typeface="Cambria"/>
              <a:cs typeface="Cambri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BE4594-1831-C1F8-F7B7-18F831A43F81}"/>
              </a:ext>
            </a:extLst>
          </p:cNvPr>
          <p:cNvSpPr txBox="1"/>
          <p:nvPr/>
        </p:nvSpPr>
        <p:spPr>
          <a:xfrm>
            <a:off x="2209800" y="1371600"/>
            <a:ext cx="8001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How to Evaluate/Prove Success</a:t>
            </a:r>
            <a:endParaRPr lang="en-US" sz="1800" dirty="0"/>
          </a:p>
          <a:p>
            <a:r>
              <a:rPr lang="en-US" sz="1800" b="1" dirty="0"/>
              <a:t>Usability Testing</a:t>
            </a:r>
            <a:r>
              <a:rPr lang="en-US" sz="1800" dirty="0"/>
              <a:t> → measure engagement and ease of use with dyslexic children.</a:t>
            </a:r>
          </a:p>
          <a:p>
            <a:r>
              <a:rPr lang="en-US" sz="1800" b="1" dirty="0"/>
              <a:t>Performance Metrics</a:t>
            </a:r>
            <a:r>
              <a:rPr lang="en-US" sz="1800" dirty="0"/>
              <a:t> → accuracy in color recognition tasks, reduced response time, improved coordination.</a:t>
            </a:r>
          </a:p>
          <a:p>
            <a:r>
              <a:rPr lang="en-US" sz="1800" b="1" dirty="0"/>
              <a:t>Pre/Post Intervention Tests</a:t>
            </a:r>
            <a:r>
              <a:rPr lang="en-US" sz="1800" dirty="0"/>
              <a:t> → measure improvement in visual/color tasks compared to baseline.</a:t>
            </a:r>
          </a:p>
          <a:p>
            <a:r>
              <a:rPr lang="en-US" sz="1800" b="1" dirty="0"/>
              <a:t>Expected Outcomes</a:t>
            </a:r>
            <a:r>
              <a:rPr lang="en-US" sz="1800" dirty="0"/>
              <a:t> → &gt;70% accuracy improvement in personalized activities within a set training period.</a:t>
            </a:r>
          </a:p>
        </p:txBody>
      </p:sp>
    </p:spTree>
    <p:extLst>
      <p:ext uri="{BB962C8B-B14F-4D97-AF65-F5344CB8AC3E}">
        <p14:creationId xmlns:p14="http://schemas.microsoft.com/office/powerpoint/2010/main" val="1016332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1908" y="2667000"/>
            <a:ext cx="6730492" cy="3121367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r>
              <a:rPr lang="en-US" b="1" dirty="0"/>
              <a:t>System Overview</a:t>
            </a:r>
            <a:endParaRPr lang="en-US" dirty="0"/>
          </a:p>
          <a:p>
            <a:r>
              <a:rPr lang="en-US" b="1" dirty="0"/>
              <a:t>Mobile-based Module</a:t>
            </a:r>
            <a:r>
              <a:rPr lang="en-US" dirty="0"/>
              <a:t> within the dyslexia learning app.</a:t>
            </a:r>
          </a:p>
          <a:p>
            <a:r>
              <a:rPr lang="en-US" dirty="0"/>
              <a:t>Core features:</a:t>
            </a:r>
          </a:p>
          <a:p>
            <a:pPr lvl="1"/>
            <a:r>
              <a:rPr lang="en-US" i="1" dirty="0"/>
              <a:t>Interactive games</a:t>
            </a:r>
            <a:r>
              <a:rPr lang="en-US" dirty="0"/>
              <a:t> → color-matching, sorting, contrast recognition.</a:t>
            </a:r>
          </a:p>
          <a:p>
            <a:pPr lvl="1"/>
            <a:r>
              <a:rPr lang="en-US" i="1" dirty="0"/>
              <a:t>Adaptive difficulty</a:t>
            </a:r>
            <a:r>
              <a:rPr lang="en-US" dirty="0"/>
              <a:t> → ML model adjusts challenges based on child’s performance.</a:t>
            </a:r>
          </a:p>
          <a:p>
            <a:pPr lvl="1"/>
            <a:r>
              <a:rPr lang="en-US" i="1" dirty="0"/>
              <a:t>Progress tracking</a:t>
            </a:r>
            <a:r>
              <a:rPr lang="en-US" dirty="0"/>
              <a:t> → dashboard for parents/teachers.</a:t>
            </a:r>
          </a:p>
          <a:p>
            <a:r>
              <a:rPr lang="en-US" dirty="0"/>
              <a:t>Technology Stack:</a:t>
            </a:r>
          </a:p>
          <a:p>
            <a:pPr lvl="1"/>
            <a:r>
              <a:rPr lang="en-US" dirty="0"/>
              <a:t>Frontend: Flutter / React Native</a:t>
            </a:r>
          </a:p>
          <a:p>
            <a:pPr lvl="1"/>
            <a:r>
              <a:rPr lang="en-US" dirty="0"/>
              <a:t>Backend: Firebase / Python ML Models</a:t>
            </a:r>
          </a:p>
          <a:p>
            <a:pPr lvl="1"/>
            <a:r>
              <a:rPr lang="en-US" dirty="0"/>
              <a:t>AI: TensorFlow Lite (on-device personalization)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1520825" algn="l"/>
              </a:tabLst>
            </a:pPr>
            <a:r>
              <a:rPr spc="-10" dirty="0"/>
              <a:t>ITXXXXXXXX</a:t>
            </a:r>
            <a:r>
              <a:rPr dirty="0"/>
              <a:t>	</a:t>
            </a:r>
            <a:r>
              <a:rPr b="0" spc="-50" dirty="0">
                <a:latin typeface="Cambria"/>
                <a:cs typeface="Cambria"/>
              </a:rPr>
              <a:t>|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445350" y="6531783"/>
            <a:ext cx="2252345" cy="29400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2166620" algn="l"/>
              </a:tabLst>
            </a:pPr>
            <a:r>
              <a:rPr sz="1800" dirty="0">
                <a:latin typeface="Cambria"/>
                <a:cs typeface="Cambria"/>
              </a:rPr>
              <a:t>&lt;</a:t>
            </a:r>
            <a:r>
              <a:rPr sz="1800" b="1" dirty="0">
                <a:latin typeface="Cambria"/>
                <a:cs typeface="Cambria"/>
              </a:rPr>
              <a:t>&lt;Student</a:t>
            </a:r>
            <a:r>
              <a:rPr sz="1800" b="1" spc="-60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Name&gt;&gt;</a:t>
            </a:r>
            <a:r>
              <a:rPr sz="1800" b="1" dirty="0">
                <a:latin typeface="Cambria"/>
                <a:cs typeface="Cambria"/>
              </a:rPr>
              <a:t>	</a:t>
            </a:r>
            <a:r>
              <a:rPr sz="1800" spc="-50" dirty="0">
                <a:latin typeface="Cambria"/>
                <a:cs typeface="Cambria"/>
              </a:rPr>
              <a:t>|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24695" y="6531783"/>
            <a:ext cx="1501140" cy="29400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00" dirty="0">
                <a:latin typeface="Cambria"/>
                <a:cs typeface="Cambria"/>
              </a:rPr>
              <a:t>&lt;&lt;Project</a:t>
            </a:r>
            <a:r>
              <a:rPr sz="1800" spc="-10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ID&gt;&gt;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8/26/2025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303787"/>
            <a:ext cx="10118521" cy="2022094"/>
          </a:xfrm>
          <a:prstGeom prst="rect">
            <a:avLst/>
          </a:prstGeom>
        </p:spPr>
        <p:txBody>
          <a:bodyPr vert="horz" wrap="square" lIns="0" tIns="1034034" rIns="0" bIns="0" rtlCol="0">
            <a:spAutoFit/>
          </a:bodyPr>
          <a:lstStyle/>
          <a:p>
            <a:pPr marL="116205" marR="5080">
              <a:lnSpc>
                <a:spcPct val="100000"/>
              </a:lnSpc>
              <a:spcBef>
                <a:spcPts val="105"/>
              </a:spcBef>
            </a:pPr>
            <a:r>
              <a:rPr dirty="0"/>
              <a:t>FOURTH</a:t>
            </a:r>
            <a:r>
              <a:rPr spc="-55" dirty="0"/>
              <a:t> </a:t>
            </a:r>
            <a:r>
              <a:rPr dirty="0"/>
              <a:t>SLIDE:</a:t>
            </a:r>
            <a:r>
              <a:rPr spc="-55" dirty="0"/>
              <a:t> </a:t>
            </a:r>
            <a:r>
              <a:rPr dirty="0"/>
              <a:t>THIS</a:t>
            </a:r>
            <a:r>
              <a:rPr spc="-55" dirty="0"/>
              <a:t> </a:t>
            </a:r>
            <a:r>
              <a:rPr dirty="0"/>
              <a:t>SLIDE</a:t>
            </a:r>
            <a:r>
              <a:rPr spc="-70" dirty="0"/>
              <a:t> </a:t>
            </a:r>
            <a:r>
              <a:rPr dirty="0"/>
              <a:t>MUST</a:t>
            </a:r>
            <a:r>
              <a:rPr spc="-55" dirty="0"/>
              <a:t> </a:t>
            </a:r>
            <a:r>
              <a:rPr dirty="0"/>
              <a:t>INCLUDE</a:t>
            </a:r>
            <a:r>
              <a:rPr spc="-6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spc="-10" dirty="0"/>
              <a:t>FOLLOWING </a:t>
            </a:r>
            <a:r>
              <a:rPr dirty="0"/>
              <a:t>SECTIONS</a:t>
            </a:r>
            <a:r>
              <a:rPr spc="-85" dirty="0"/>
              <a:t> </a:t>
            </a:r>
            <a:r>
              <a:rPr dirty="0"/>
              <a:t>ABOUT</a:t>
            </a:r>
            <a:r>
              <a:rPr spc="-95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dirty="0"/>
              <a:t>INDIVIDUAL</a:t>
            </a:r>
            <a:r>
              <a:rPr spc="-95" dirty="0"/>
              <a:t> </a:t>
            </a:r>
            <a:r>
              <a:rPr spc="-10" dirty="0"/>
              <a:t>COMPONENT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15470" y="6550862"/>
            <a:ext cx="13144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latin typeface="Cambria"/>
                <a:cs typeface="Cambria"/>
              </a:rPr>
              <a:t>6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373302"/>
            <a:ext cx="2514599" cy="48469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367009" y="6566713"/>
            <a:ext cx="8108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mbria"/>
                <a:cs typeface="Cambria"/>
              </a:rPr>
              <a:t>8/26/2025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14652" y="1012647"/>
            <a:ext cx="936244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05405" marR="5080" indent="-2592705">
              <a:lnSpc>
                <a:spcPct val="100000"/>
              </a:lnSpc>
              <a:spcBef>
                <a:spcPts val="105"/>
              </a:spcBef>
            </a:pPr>
            <a:r>
              <a:rPr b="0" dirty="0">
                <a:latin typeface="Calibri"/>
                <a:cs typeface="Calibri"/>
              </a:rPr>
              <a:t>Last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Slide: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This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slide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MUST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include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-7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following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sections </a:t>
            </a:r>
            <a:r>
              <a:rPr b="0" dirty="0">
                <a:latin typeface="Calibri"/>
                <a:cs typeface="Calibri"/>
              </a:rPr>
              <a:t>about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b="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FF0000"/>
                </a:solidFill>
                <a:latin typeface="Calibri"/>
                <a:cs typeface="Calibri"/>
              </a:rPr>
              <a:t>ENTIRE</a:t>
            </a:r>
            <a:r>
              <a:rPr b="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rgbClr val="FF0000"/>
                </a:solidFill>
                <a:latin typeface="Calibri"/>
                <a:cs typeface="Calibri"/>
              </a:rPr>
              <a:t>Project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45844" y="2777108"/>
            <a:ext cx="9749790" cy="2540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</a:tabLst>
            </a:pPr>
            <a:r>
              <a:rPr sz="2500" dirty="0">
                <a:latin typeface="Cambria"/>
                <a:cs typeface="Cambria"/>
              </a:rPr>
              <a:t>Ability</a:t>
            </a:r>
            <a:r>
              <a:rPr sz="2500" spc="-6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of</a:t>
            </a:r>
            <a:r>
              <a:rPr sz="2500" spc="-80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Commercialization</a:t>
            </a:r>
            <a:r>
              <a:rPr sz="2500" spc="-35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(15%)</a:t>
            </a:r>
            <a:endParaRPr sz="2500">
              <a:latin typeface="Cambria"/>
              <a:cs typeface="Cambria"/>
            </a:endParaRPr>
          </a:p>
          <a:p>
            <a:pPr marL="354965" marR="1581785" indent="-342900">
              <a:lnSpc>
                <a:spcPts val="24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</a:tabLst>
            </a:pPr>
            <a:r>
              <a:rPr sz="2500" spc="-20" dirty="0">
                <a:latin typeface="Cambria"/>
                <a:cs typeface="Cambria"/>
              </a:rPr>
              <a:t>Investment/cost</a:t>
            </a:r>
            <a:r>
              <a:rPr sz="2500" dirty="0">
                <a:latin typeface="Cambria"/>
                <a:cs typeface="Cambria"/>
              </a:rPr>
              <a:t> (Labor</a:t>
            </a:r>
            <a:r>
              <a:rPr sz="2500" spc="-4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+</a:t>
            </a:r>
            <a:r>
              <a:rPr sz="2500" spc="-6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Material)</a:t>
            </a:r>
            <a:r>
              <a:rPr sz="2500" spc="-2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&amp;</a:t>
            </a:r>
            <a:r>
              <a:rPr sz="2500" spc="-4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How</a:t>
            </a:r>
            <a:r>
              <a:rPr sz="2500" spc="-5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to</a:t>
            </a:r>
            <a:r>
              <a:rPr sz="2500" spc="-35" dirty="0">
                <a:latin typeface="Cambria"/>
                <a:cs typeface="Cambria"/>
              </a:rPr>
              <a:t> </a:t>
            </a:r>
            <a:r>
              <a:rPr sz="2500" spc="-20" dirty="0">
                <a:latin typeface="Cambria"/>
                <a:cs typeface="Cambria"/>
              </a:rPr>
              <a:t>Recover</a:t>
            </a:r>
            <a:r>
              <a:rPr sz="2500" spc="-25" dirty="0">
                <a:latin typeface="Cambria"/>
                <a:cs typeface="Cambria"/>
              </a:rPr>
              <a:t> the </a:t>
            </a:r>
            <a:r>
              <a:rPr sz="2500" spc="-10" dirty="0">
                <a:latin typeface="Cambria"/>
                <a:cs typeface="Cambria"/>
              </a:rPr>
              <a:t>Investment/cost</a:t>
            </a:r>
            <a:r>
              <a:rPr sz="2500" spc="-125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(Pricing)</a:t>
            </a:r>
            <a:endParaRPr sz="2500">
              <a:latin typeface="Cambria"/>
              <a:cs typeface="Cambria"/>
            </a:endParaRPr>
          </a:p>
          <a:p>
            <a:pPr marL="354965" marR="892175" indent="-342900">
              <a:lnSpc>
                <a:spcPts val="2400"/>
              </a:lnSpc>
              <a:spcBef>
                <a:spcPts val="600"/>
              </a:spcBef>
              <a:buFont typeface="Arial"/>
              <a:buChar char="•"/>
              <a:tabLst>
                <a:tab pos="354965" algn="l"/>
              </a:tabLst>
            </a:pPr>
            <a:r>
              <a:rPr sz="2500" spc="-25" dirty="0">
                <a:latin typeface="Cambria"/>
                <a:cs typeface="Cambria"/>
              </a:rPr>
              <a:t>Target</a:t>
            </a:r>
            <a:r>
              <a:rPr sz="2500" spc="-10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market,</a:t>
            </a:r>
            <a:r>
              <a:rPr sz="2500" spc="-10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customer</a:t>
            </a:r>
            <a:r>
              <a:rPr sz="2500" spc="-9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profile,</a:t>
            </a:r>
            <a:r>
              <a:rPr sz="2500" spc="-105" dirty="0">
                <a:latin typeface="Cambria"/>
                <a:cs typeface="Cambria"/>
              </a:rPr>
              <a:t> </a:t>
            </a:r>
            <a:r>
              <a:rPr sz="2500" spc="-20" dirty="0">
                <a:latin typeface="Cambria"/>
                <a:cs typeface="Cambria"/>
              </a:rPr>
              <a:t>Value</a:t>
            </a:r>
            <a:r>
              <a:rPr sz="2500" spc="-114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Proposition,</a:t>
            </a:r>
            <a:r>
              <a:rPr sz="2500" spc="-85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Intellectual </a:t>
            </a:r>
            <a:r>
              <a:rPr sz="2500" dirty="0">
                <a:latin typeface="Cambria"/>
                <a:cs typeface="Cambria"/>
              </a:rPr>
              <a:t>Property</a:t>
            </a:r>
            <a:r>
              <a:rPr sz="2500" spc="-9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Rights,</a:t>
            </a:r>
            <a:r>
              <a:rPr sz="2500" spc="-130" dirty="0">
                <a:latin typeface="Cambria"/>
                <a:cs typeface="Cambria"/>
              </a:rPr>
              <a:t> </a:t>
            </a:r>
            <a:r>
              <a:rPr sz="2500" spc="-20" dirty="0">
                <a:latin typeface="Cambria"/>
                <a:cs typeface="Cambria"/>
              </a:rPr>
              <a:t>etc.</a:t>
            </a:r>
            <a:endParaRPr sz="25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"/>
              <a:buChar char="•"/>
            </a:pPr>
            <a:endParaRPr sz="25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25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Note:</a:t>
            </a:r>
            <a:r>
              <a:rPr sz="2500" b="1" u="sng" spc="-4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500" b="1" u="sng" spc="-6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You</a:t>
            </a:r>
            <a:r>
              <a:rPr sz="2500" b="1" u="sng" spc="-6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5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should</a:t>
            </a:r>
            <a:r>
              <a:rPr sz="2500" b="1" u="sng" spc="-3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5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put</a:t>
            </a:r>
            <a:r>
              <a:rPr sz="2500" b="1" u="sng" spc="-5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500" b="1" u="sng" spc="-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“</a:t>
            </a:r>
            <a:r>
              <a:rPr sz="25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mbria"/>
                <a:cs typeface="Cambria"/>
              </a:rPr>
              <a:t>Overall</a:t>
            </a:r>
            <a:r>
              <a:rPr sz="2500" b="1" u="sng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mbria"/>
                <a:cs typeface="Cambria"/>
              </a:rPr>
              <a:t> </a:t>
            </a:r>
            <a:r>
              <a:rPr sz="25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mbria"/>
                <a:cs typeface="Cambria"/>
              </a:rPr>
              <a:t>Project</a:t>
            </a:r>
            <a:r>
              <a:rPr sz="2500" b="1" u="sng" spc="-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mbria"/>
                <a:cs typeface="Cambria"/>
              </a:rPr>
              <a:t> </a:t>
            </a:r>
            <a:r>
              <a:rPr sz="25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mbria"/>
                <a:cs typeface="Cambria"/>
              </a:rPr>
              <a:t>Title</a:t>
            </a:r>
            <a:r>
              <a:rPr sz="25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”</a:t>
            </a:r>
            <a:r>
              <a:rPr sz="2500" b="1" u="sng" spc="-1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5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at</a:t>
            </a:r>
            <a:r>
              <a:rPr sz="2500" b="1" u="sng" spc="-5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5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the</a:t>
            </a:r>
            <a:r>
              <a:rPr sz="2500" b="1" u="sng" spc="-6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5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top</a:t>
            </a:r>
            <a:r>
              <a:rPr sz="2500" b="1" u="sng" spc="-5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5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of</a:t>
            </a:r>
            <a:r>
              <a:rPr sz="2500" b="1" u="sng" spc="-5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500" b="1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the</a:t>
            </a:r>
            <a:r>
              <a:rPr sz="2500" b="1" u="sng" spc="-6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500" b="1" u="sng" spc="-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Slide</a:t>
            </a:r>
            <a:endParaRPr sz="2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3F6D1E4BB8B34E9E51B71C51AC2A0A" ma:contentTypeVersion="14" ma:contentTypeDescription="Create a new document." ma:contentTypeScope="" ma:versionID="87f73bb173140ab53c68412c63f9c832">
  <xsd:schema xmlns:xsd="http://www.w3.org/2001/XMLSchema" xmlns:xs="http://www.w3.org/2001/XMLSchema" xmlns:p="http://schemas.microsoft.com/office/2006/metadata/properties" xmlns:ns3="ebcb448b-e496-46d6-b65e-001154fa212e" xmlns:ns4="9f051fea-6169-422b-9b96-d2faa3f6702f" targetNamespace="http://schemas.microsoft.com/office/2006/metadata/properties" ma:root="true" ma:fieldsID="594d5f951c9b6cbb33ac94bc19e46815" ns3:_="" ns4:_="">
    <xsd:import namespace="ebcb448b-e496-46d6-b65e-001154fa212e"/>
    <xsd:import namespace="9f051fea-6169-422b-9b96-d2faa3f6702f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cb448b-e496-46d6-b65e-001154fa212e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051fea-6169-422b-9b96-d2faa3f6702f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bcb448b-e496-46d6-b65e-001154fa212e" xsi:nil="true"/>
  </documentManagement>
</p:properties>
</file>

<file path=customXml/itemProps1.xml><?xml version="1.0" encoding="utf-8"?>
<ds:datastoreItem xmlns:ds="http://schemas.openxmlformats.org/officeDocument/2006/customXml" ds:itemID="{98C7F55D-15C5-4742-B8E0-CBD86BD622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cb448b-e496-46d6-b65e-001154fa212e"/>
    <ds:schemaRef ds:uri="9f051fea-6169-422b-9b96-d2faa3f670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490B67E-C7D6-4646-8F3B-4C47231295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4B693EE-7594-48AA-B271-BCC1873B3749}">
  <ds:schemaRefs>
    <ds:schemaRef ds:uri="9f051fea-6169-422b-9b96-d2faa3f6702f"/>
    <ds:schemaRef ds:uri="http://purl.org/dc/dcmitype/"/>
    <ds:schemaRef ds:uri="http://www.w3.org/XML/1998/namespace"/>
    <ds:schemaRef ds:uri="ebcb448b-e496-46d6-b65e-001154fa212e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523</TotalTime>
  <Words>485</Words>
  <Application>Microsoft Office PowerPoint</Application>
  <PresentationFormat>Widescreen</PresentationFormat>
  <Paragraphs>89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Cambria</vt:lpstr>
      <vt:lpstr>Times New Roman</vt:lpstr>
      <vt:lpstr>Wingdings</vt:lpstr>
      <vt:lpstr>Office Theme</vt:lpstr>
      <vt:lpstr>Use Slide Layout “Overall Title and Content”</vt:lpstr>
      <vt:lpstr>Enhance Color Coordination in Dyslexic Learners </vt:lpstr>
      <vt:lpstr>PowerPoint Presentation</vt:lpstr>
      <vt:lpstr>PowerPoint Presentation</vt:lpstr>
      <vt:lpstr>PowerPoint Presentation</vt:lpstr>
      <vt:lpstr>FOURTH SLIDE: THIS SLIDE MUST INCLUDE THE FOLLOWING SECTIONS ABOUT THE INDIVIDUAL COMPONENT</vt:lpstr>
      <vt:lpstr>Last Slide: This slide MUST include the following sections about the ENTIRE Project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Koliya Pulasinghe</dc:creator>
  <cp:lastModifiedBy>VITHANAGE B H it22212436</cp:lastModifiedBy>
  <cp:revision>3</cp:revision>
  <dcterms:created xsi:type="dcterms:W3CDTF">2025-09-02T16:44:01Z</dcterms:created>
  <dcterms:modified xsi:type="dcterms:W3CDTF">2025-09-03T14:56:01Z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2025-08-26T00:00:00Z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2025-09-02T00:00:00Z</vt:filetime>
  </property>
  <property fmtid="{D5CDD505-2E9C-101B-9397-08002B2CF9AE}" pid="5" name="Producer">
    <vt:lpwstr>3-Heights(TM) PDF Security Shell 4.8.25.2 (http://www.pdf-tools.com)</vt:lpwstr>
  </property>
  <property fmtid="{D5CDD505-2E9C-101B-9397-08002B2CF9AE}" pid="6" name="ContentTypeId">
    <vt:lpwstr>0x0101003C3F6D1E4BB8B34E9E51B71C51AC2A0A</vt:lpwstr>
  </property>
</Properties>
</file>